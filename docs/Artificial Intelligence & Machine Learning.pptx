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lacial Indifference Bold" charset="1" panose="00000800000000000000"/>
      <p:regular r:id="rId18"/>
    </p:embeddedFont>
    <p:embeddedFont>
      <p:font typeface="HK Grotesk Bold" charset="1" panose="00000800000000000000"/>
      <p:regular r:id="rId19"/>
    </p:embeddedFont>
    <p:embeddedFont>
      <p:font typeface="HK Grotesk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730239" y="2727562"/>
            <a:ext cx="19018239" cy="117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0"/>
              </a:lnSpc>
            </a:pPr>
            <a:r>
              <a:rPr lang="en-US" b="true" sz="8107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ARTIFICIAL </a:t>
            </a:r>
            <a:r>
              <a:rPr lang="en-US" b="true" sz="8107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INTELLIGENCE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41837" y="5665196"/>
            <a:ext cx="10890977" cy="1257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5"/>
              </a:lnSpc>
            </a:pPr>
            <a:r>
              <a:rPr lang="en-US" b="true" sz="86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MACHINE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5505" y="4180758"/>
            <a:ext cx="1823640" cy="121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99"/>
              </a:lnSpc>
            </a:pPr>
            <a:r>
              <a:rPr lang="en-US" b="true" sz="84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&amp;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637" y="-450964"/>
            <a:ext cx="17024727" cy="10737964"/>
          </a:xfrm>
          <a:custGeom>
            <a:avLst/>
            <a:gdLst/>
            <a:ahLst/>
            <a:cxnLst/>
            <a:rect r="r" b="b" t="t" l="l"/>
            <a:pathLst>
              <a:path h="10737964" w="17024727">
                <a:moveTo>
                  <a:pt x="0" y="0"/>
                </a:moveTo>
                <a:lnTo>
                  <a:pt x="17024726" y="0"/>
                </a:lnTo>
                <a:lnTo>
                  <a:pt x="17024726" y="10737964"/>
                </a:lnTo>
                <a:lnTo>
                  <a:pt x="0" y="10737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369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1637" y="2862233"/>
            <a:ext cx="8192724" cy="611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9"/>
              </a:lnSpc>
            </a:pPr>
            <a:r>
              <a:rPr lang="en-US" sz="3178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Artificial Intelligence</a:t>
            </a:r>
          </a:p>
          <a:p>
            <a:pPr algn="ctr">
              <a:lnSpc>
                <a:spcPts val="4449"/>
              </a:lnSpc>
            </a:pPr>
            <a:r>
              <a:rPr lang="en-US" sz="31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 field of computer science that creates systems able to perform tasks that normally require human intelligence, such as learning, reasoning, recognising patterns, understanding language, and making decisions. </a:t>
            </a:r>
          </a:p>
          <a:p>
            <a:pPr algn="ctr">
              <a:lnSpc>
                <a:spcPts val="4449"/>
              </a:lnSpc>
            </a:pPr>
          </a:p>
          <a:p>
            <a:pPr algn="ctr">
              <a:lnSpc>
                <a:spcPts val="4449"/>
              </a:lnSpc>
            </a:pPr>
            <a:r>
              <a:rPr lang="en-US" sz="317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It uses data and algorithms to let machines improve their performance over time without needing explicit step-by-step instructions for every situation.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50018" y="1076325"/>
            <a:ext cx="12187964" cy="105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19"/>
              </a:lnSpc>
            </a:pPr>
            <a:r>
              <a:rPr lang="en-US" b="true" sz="7273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OVERVIEW : AI &amp; 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39940" y="2862233"/>
            <a:ext cx="7919360" cy="5981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1"/>
              </a:lnSpc>
            </a:pPr>
            <a:r>
              <a:rPr lang="en-US" sz="337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Machine Learning</a:t>
            </a:r>
            <a:r>
              <a:rPr lang="en-US" sz="337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</a:p>
          <a:p>
            <a:pPr algn="ctr">
              <a:lnSpc>
                <a:spcPts val="4731"/>
              </a:lnSpc>
            </a:pPr>
            <a:r>
              <a:rPr lang="en-US" sz="337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 subfield of AI that trains computer systems to learn patterns from data so they can make predictions or decisions without explicit rule-based programming.</a:t>
            </a:r>
          </a:p>
          <a:p>
            <a:pPr algn="ctr">
              <a:lnSpc>
                <a:spcPts val="4731"/>
              </a:lnSpc>
            </a:pPr>
            <a:r>
              <a:rPr lang="en-US" sz="337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</a:p>
          <a:p>
            <a:pPr algn="ctr">
              <a:lnSpc>
                <a:spcPts val="4731"/>
              </a:lnSpc>
            </a:pPr>
            <a:r>
              <a:rPr lang="en-US" sz="337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It uses algorithms and statistical models that automatically improve performance as more data and experience become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637" y="-954053"/>
            <a:ext cx="17024727" cy="10737964"/>
          </a:xfrm>
          <a:custGeom>
            <a:avLst/>
            <a:gdLst/>
            <a:ahLst/>
            <a:cxnLst/>
            <a:rect r="r" b="b" t="t" l="l"/>
            <a:pathLst>
              <a:path h="10737964" w="17024727">
                <a:moveTo>
                  <a:pt x="0" y="0"/>
                </a:moveTo>
                <a:lnTo>
                  <a:pt x="17024726" y="0"/>
                </a:lnTo>
                <a:lnTo>
                  <a:pt x="17024726" y="10737964"/>
                </a:lnTo>
                <a:lnTo>
                  <a:pt x="0" y="10737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369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39105" y="3017543"/>
            <a:ext cx="16009791" cy="620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01"/>
              </a:lnSpc>
            </a:pPr>
            <a:r>
              <a:rPr lang="en-US" sz="2968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Supervised Learning</a:t>
            </a:r>
          </a:p>
          <a:p>
            <a:pPr algn="just" marL="619336" indent="-309668" lvl="1">
              <a:lnSpc>
                <a:spcPts val="4446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Definition: A Model learns from labelled data (input-output pairs) to predict outcomes.</a:t>
            </a:r>
          </a:p>
          <a:p>
            <a:pPr algn="just" marL="619336" indent="-309668" lvl="1">
              <a:lnSpc>
                <a:spcPts val="4446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Examples: Classification (spam detection, disease diagnosis), Regression (price prediction, temperature forecasting).</a:t>
            </a:r>
          </a:p>
          <a:p>
            <a:pPr algn="just" marL="619336" indent="-309668" lvl="1">
              <a:lnSpc>
                <a:spcPts val="4446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Use case: When you have historically labelled data and need to predict known outcomes.</a:t>
            </a:r>
          </a:p>
          <a:p>
            <a:pPr algn="just">
              <a:lnSpc>
                <a:spcPts val="4446"/>
              </a:lnSpc>
            </a:pPr>
          </a:p>
          <a:p>
            <a:pPr algn="just">
              <a:lnSpc>
                <a:spcPts val="4601"/>
              </a:lnSpc>
            </a:pPr>
            <a:r>
              <a:rPr lang="en-US" sz="2968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Unsupervised Learning</a:t>
            </a:r>
          </a:p>
          <a:p>
            <a:pPr algn="just" marL="619336" indent="-309668" lvl="1">
              <a:lnSpc>
                <a:spcPts val="4446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Definition: A Model discovers hidden patterns in unlabeled data without predefined answers.</a:t>
            </a:r>
          </a:p>
          <a:p>
            <a:pPr algn="just" marL="619336" indent="-309668" lvl="1">
              <a:lnSpc>
                <a:spcPts val="4446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Examples: Clustering (customer segmentation, document grouping), Dimensionality reduction (feature extraction).</a:t>
            </a:r>
          </a:p>
          <a:p>
            <a:pPr algn="just" marL="619336" indent="-309668" lvl="1">
              <a:lnSpc>
                <a:spcPts val="4446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Use case: When exploring data structure or finding natural groupings without labelled examples.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65016" y="573908"/>
            <a:ext cx="12757967" cy="2083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6"/>
              </a:lnSpc>
            </a:pPr>
            <a:r>
              <a:rPr lang="en-US" b="true" sz="7173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MACHINE LEARNING CONCEPTS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637" y="-954053"/>
            <a:ext cx="17024727" cy="10737964"/>
          </a:xfrm>
          <a:custGeom>
            <a:avLst/>
            <a:gdLst/>
            <a:ahLst/>
            <a:cxnLst/>
            <a:rect r="r" b="b" t="t" l="l"/>
            <a:pathLst>
              <a:path h="10737964" w="17024727">
                <a:moveTo>
                  <a:pt x="0" y="0"/>
                </a:moveTo>
                <a:lnTo>
                  <a:pt x="17024726" y="0"/>
                </a:lnTo>
                <a:lnTo>
                  <a:pt x="17024726" y="10737964"/>
                </a:lnTo>
                <a:lnTo>
                  <a:pt x="0" y="10737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369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34719" y="2835757"/>
            <a:ext cx="15818561" cy="7212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5"/>
              </a:lnSpc>
            </a:pPr>
            <a:r>
              <a:rPr lang="en-US" sz="2968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Semi-Supervised Learning</a:t>
            </a:r>
          </a:p>
          <a:p>
            <a:pPr algn="just" marL="619336" indent="-309668" lvl="1">
              <a:lnSpc>
                <a:spcPts val="4102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Definition: Combines small amounts of labeled data with large amounts of unlabeled data for training.</a:t>
            </a:r>
          </a:p>
          <a:p>
            <a:pPr algn="just" marL="619336" indent="-309668" lvl="1">
              <a:lnSpc>
                <a:spcPts val="4102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Examples: Text classification with few labeled samples, image recognition with partially labeled datasets.</a:t>
            </a:r>
          </a:p>
          <a:p>
            <a:pPr algn="just" marL="619336" indent="-309668" lvl="1">
              <a:lnSpc>
                <a:spcPts val="4102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Use case: hen labeling data is expensive but you have abundant unlabeled data available.</a:t>
            </a:r>
          </a:p>
          <a:p>
            <a:pPr algn="just">
              <a:lnSpc>
                <a:spcPts val="4245"/>
              </a:lnSpc>
            </a:pPr>
            <a:r>
              <a:rPr lang="en-US" sz="2968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Reinforcement Learning</a:t>
            </a:r>
          </a:p>
          <a:p>
            <a:pPr algn="just" marL="619336" indent="-309668" lvl="1">
              <a:lnSpc>
                <a:spcPts val="4102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Definition: Model learns by interacting with an environment and receiving rewards/penalties for actions.</a:t>
            </a:r>
          </a:p>
          <a:p>
            <a:pPr algn="just" marL="619336" indent="-309668" lvl="1">
              <a:lnSpc>
                <a:spcPts val="4102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Examples: Game playing (chess, Go), robotics control, autonomous vehicles, recommendation systems.</a:t>
            </a:r>
          </a:p>
          <a:p>
            <a:pPr algn="just" marL="619336" indent="-309668" lvl="1">
              <a:lnSpc>
                <a:spcPts val="4102"/>
              </a:lnSpc>
              <a:buFont typeface="Arial"/>
              <a:buChar char="•"/>
            </a:pP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Use case: When the goal is to optimize decision-making through trial-and-error and feedback loops.</a:t>
            </a:r>
          </a:p>
          <a:p>
            <a:pPr algn="just">
              <a:lnSpc>
                <a:spcPts val="39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765016" y="573908"/>
            <a:ext cx="12757967" cy="2083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6"/>
              </a:lnSpc>
            </a:pPr>
            <a:r>
              <a:rPr lang="en-US" b="true" sz="7173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MACHINE LEARNING CONCEPTS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69677" y="337833"/>
            <a:ext cx="11748645" cy="9611335"/>
          </a:xfrm>
          <a:custGeom>
            <a:avLst/>
            <a:gdLst/>
            <a:ahLst/>
            <a:cxnLst/>
            <a:rect r="r" b="b" t="t" l="l"/>
            <a:pathLst>
              <a:path h="9611335" w="11748645">
                <a:moveTo>
                  <a:pt x="0" y="0"/>
                </a:moveTo>
                <a:lnTo>
                  <a:pt x="11748646" y="0"/>
                </a:lnTo>
                <a:lnTo>
                  <a:pt x="11748646" y="9611334"/>
                </a:lnTo>
                <a:lnTo>
                  <a:pt x="0" y="96113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59" r="-4637" b="-4359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637" y="-450964"/>
            <a:ext cx="17024727" cy="10737964"/>
          </a:xfrm>
          <a:custGeom>
            <a:avLst/>
            <a:gdLst/>
            <a:ahLst/>
            <a:cxnLst/>
            <a:rect r="r" b="b" t="t" l="l"/>
            <a:pathLst>
              <a:path h="10737964" w="17024727">
                <a:moveTo>
                  <a:pt x="0" y="0"/>
                </a:moveTo>
                <a:lnTo>
                  <a:pt x="17024726" y="0"/>
                </a:lnTo>
                <a:lnTo>
                  <a:pt x="17024726" y="10737964"/>
                </a:lnTo>
                <a:lnTo>
                  <a:pt x="0" y="10737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369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64319" y="2377783"/>
            <a:ext cx="15894981" cy="7616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9336" indent="-309668" lvl="1">
              <a:lnSpc>
                <a:spcPts val="5048"/>
              </a:lnSpc>
              <a:buFont typeface="Arial"/>
              <a:buChar char="•"/>
            </a:pPr>
            <a:r>
              <a:rPr lang="en-US" b="true" sz="286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Identify the Real-World Problem:</a:t>
            </a: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Understand what challenge or opportunity exists in the business - or domain - what gap needs to be filled or what inefficiency needs to be solved.</a:t>
            </a:r>
          </a:p>
          <a:p>
            <a:pPr algn="just" marL="619336" indent="-309668" lvl="1">
              <a:lnSpc>
                <a:spcPts val="5048"/>
              </a:lnSpc>
              <a:buFont typeface="Arial"/>
              <a:buChar char="•"/>
            </a:pPr>
            <a:r>
              <a:rPr lang="en-US" b="true" sz="286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Clarify the Use Case Scope: </a:t>
            </a: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Define the specific scenario where the model will be applied - who will use it, when, where, and under what conditions (e.g., real-time prediction vs. batch processing).</a:t>
            </a:r>
          </a:p>
          <a:p>
            <a:pPr algn="just" marL="619336" indent="-309668" lvl="1">
              <a:lnSpc>
                <a:spcPts val="5048"/>
              </a:lnSpc>
              <a:buFont typeface="Arial"/>
              <a:buChar char="•"/>
            </a:pPr>
            <a:r>
              <a:rPr lang="en-US" b="true" sz="286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Establish Domain Knowledge &amp; Context: </a:t>
            </a: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Consult with domain experts and stakeholders to understand the underlying patterns, rules, and nuances of the problem space before assumptions are made about data needs.</a:t>
            </a:r>
          </a:p>
          <a:p>
            <a:pPr algn="just" marL="619336" indent="-309668" lvl="1">
              <a:lnSpc>
                <a:spcPts val="5048"/>
              </a:lnSpc>
              <a:buFont typeface="Arial"/>
              <a:buChar char="•"/>
            </a:pPr>
            <a:r>
              <a:rPr lang="en-US" b="true" sz="286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Validate Feasibility with Available Resources:</a:t>
            </a:r>
            <a:r>
              <a:rPr lang="en-US" sz="286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Assess whether the problem can realistically be solved with AI/ML given existing data sources, computational resources, and time constraints—before committing to a full data collection effort.</a:t>
            </a:r>
          </a:p>
          <a:p>
            <a:pPr algn="just">
              <a:lnSpc>
                <a:spcPts val="504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008637" y="313861"/>
            <a:ext cx="14606345" cy="186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5"/>
              </a:lnSpc>
            </a:pPr>
            <a:r>
              <a:rPr lang="en-US" b="true" sz="6473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UNDERSTANDING THE </a:t>
            </a:r>
          </a:p>
          <a:p>
            <a:pPr algn="ctr">
              <a:lnSpc>
                <a:spcPts val="7315"/>
              </a:lnSpc>
            </a:pPr>
            <a:r>
              <a:rPr lang="en-US" b="true" sz="6473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BUSINESS PROBLEM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7685994" y="-603427"/>
            <a:ext cx="9034195" cy="12746659"/>
          </a:xfrm>
          <a:custGeom>
            <a:avLst/>
            <a:gdLst/>
            <a:ahLst/>
            <a:cxnLst/>
            <a:rect r="r" b="b" t="t" l="l"/>
            <a:pathLst>
              <a:path h="12746659" w="9034195">
                <a:moveTo>
                  <a:pt x="0" y="12746659"/>
                </a:moveTo>
                <a:lnTo>
                  <a:pt x="9034194" y="12746659"/>
                </a:lnTo>
                <a:lnTo>
                  <a:pt x="9034194" y="0"/>
                </a:lnTo>
                <a:lnTo>
                  <a:pt x="0" y="0"/>
                </a:lnTo>
                <a:lnTo>
                  <a:pt x="0" y="1274665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3746" y="3753534"/>
            <a:ext cx="10026797" cy="5982627"/>
          </a:xfrm>
          <a:custGeom>
            <a:avLst/>
            <a:gdLst/>
            <a:ahLst/>
            <a:cxnLst/>
            <a:rect r="r" b="b" t="t" l="l"/>
            <a:pathLst>
              <a:path h="5982627" w="10026797">
                <a:moveTo>
                  <a:pt x="0" y="0"/>
                </a:moveTo>
                <a:lnTo>
                  <a:pt x="10026796" y="0"/>
                </a:lnTo>
                <a:lnTo>
                  <a:pt x="10026796" y="5982627"/>
                </a:lnTo>
                <a:lnTo>
                  <a:pt x="0" y="5982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54" t="0" r="-1595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-7268382" y="526405"/>
            <a:ext cx="18528683" cy="149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77"/>
              </a:lnSpc>
            </a:pPr>
            <a:r>
              <a:rPr lang="en-US" b="true" sz="520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COLLECTION &amp; PREPARATION</a:t>
            </a:r>
          </a:p>
          <a:p>
            <a:pPr algn="r">
              <a:lnSpc>
                <a:spcPts val="587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53746" y="1452830"/>
            <a:ext cx="16805554" cy="214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6"/>
              </a:lnSpc>
            </a:pPr>
            <a:r>
              <a:rPr lang="en-US" sz="217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Stage 2 is about turning raw data into clean, ML‑ready data.</a:t>
            </a:r>
          </a:p>
          <a:p>
            <a:pPr algn="l">
              <a:lnSpc>
                <a:spcPts val="2456"/>
              </a:lnSpc>
            </a:pPr>
            <a:r>
              <a:rPr lang="en-US" b="true" sz="217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</a:t>
            </a:r>
            <a:r>
              <a:rPr lang="en-US" b="true" sz="217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Gather relevant data</a:t>
            </a:r>
          </a:p>
          <a:p>
            <a:pPr algn="l" marL="469369" indent="-234684" lvl="1">
              <a:lnSpc>
                <a:spcPts val="2456"/>
              </a:lnSpc>
              <a:buFont typeface="Arial"/>
              <a:buChar char="•"/>
            </a:pPr>
            <a:r>
              <a:rPr lang="en-US" sz="217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    Pull only data that is clearly linked to the problem from sources like databases, logs, sensors, CRM tools, public datasets, or APIs.</a:t>
            </a:r>
          </a:p>
          <a:p>
            <a:pPr algn="l" marL="469369" indent="-234684" lvl="1">
              <a:lnSpc>
                <a:spcPts val="2456"/>
              </a:lnSpc>
              <a:buFont typeface="Arial"/>
              <a:buChar char="•"/>
            </a:pPr>
            <a:r>
              <a:rPr lang="en-US" sz="217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    Avoid noisy or irrelevant fields that do not help prediction.</a:t>
            </a:r>
          </a:p>
          <a:p>
            <a:pPr algn="l">
              <a:lnSpc>
                <a:spcPts val="2456"/>
              </a:lnSpc>
            </a:pPr>
            <a:r>
              <a:rPr lang="en-US" b="true" sz="217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2.</a:t>
            </a:r>
            <a:r>
              <a:rPr lang="en-US" b="true" sz="217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Validate data quality</a:t>
            </a:r>
          </a:p>
          <a:p>
            <a:pPr algn="l" marL="469369" indent="-234684" lvl="1">
              <a:lnSpc>
                <a:spcPts val="2456"/>
              </a:lnSpc>
              <a:buFont typeface="Arial"/>
              <a:buChar char="•"/>
            </a:pPr>
            <a:r>
              <a:rPr lang="en-US" sz="217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Check completeness, accuracy, consistency (formats/units), and recency so the data reflects current reality.</a:t>
            </a:r>
          </a:p>
          <a:p>
            <a:pPr algn="l" marL="469369" indent="-234684" lvl="1">
              <a:lnSpc>
                <a:spcPts val="2456"/>
              </a:lnSpc>
              <a:buFont typeface="Arial"/>
              <a:buChar char="•"/>
            </a:pPr>
            <a:r>
              <a:rPr lang="en-US" sz="217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Fix or remove duplicate, impossible, or clearly wrong records.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69801" y="3763059"/>
            <a:ext cx="6189499" cy="583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b="true" sz="227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3.Handle missing values and outliers-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227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Drop, impute, or flag missing values based on feature importance and missing rate, and treat outliers by capping, transforming, or removing them when they are errors rather than valid rare cases.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</a:p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b="true" sz="227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4.Ensure sufficient and representative data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227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Ensure each class or segment has enough samples and handle imbalance using oversampling, undersampling, or class‑weighted models.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</a:p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b="true" sz="227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5.Typical preparation steps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227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Standardize formats, scale numeric features, encode categorical variables, remove leakage features, and then split data into train, validation, and test sets.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7397573" y="-603427"/>
            <a:ext cx="9034195" cy="12746659"/>
          </a:xfrm>
          <a:custGeom>
            <a:avLst/>
            <a:gdLst/>
            <a:ahLst/>
            <a:cxnLst/>
            <a:rect r="r" b="b" t="t" l="l"/>
            <a:pathLst>
              <a:path h="12746659" w="9034195">
                <a:moveTo>
                  <a:pt x="0" y="12746659"/>
                </a:moveTo>
                <a:lnTo>
                  <a:pt x="9034195" y="12746659"/>
                </a:lnTo>
                <a:lnTo>
                  <a:pt x="9034195" y="0"/>
                </a:lnTo>
                <a:lnTo>
                  <a:pt x="0" y="0"/>
                </a:lnTo>
                <a:lnTo>
                  <a:pt x="0" y="1274665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8227" y="2738309"/>
            <a:ext cx="8665773" cy="6063186"/>
          </a:xfrm>
          <a:custGeom>
            <a:avLst/>
            <a:gdLst/>
            <a:ahLst/>
            <a:cxnLst/>
            <a:rect r="r" b="b" t="t" l="l"/>
            <a:pathLst>
              <a:path h="6063186" w="8665773">
                <a:moveTo>
                  <a:pt x="0" y="0"/>
                </a:moveTo>
                <a:lnTo>
                  <a:pt x="8665773" y="0"/>
                </a:lnTo>
                <a:lnTo>
                  <a:pt x="8665773" y="6063187"/>
                </a:lnTo>
                <a:lnTo>
                  <a:pt x="0" y="6063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82" t="0" r="-4899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784964" y="845072"/>
            <a:ext cx="19495210" cy="86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6"/>
              </a:lnSpc>
            </a:pPr>
            <a:r>
              <a:rPr lang="en-US" b="true" sz="60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MODEL SELECTION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76811" y="2022025"/>
            <a:ext cx="8495645" cy="787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The process of choosing, from a set of candidate models, the one that best fits the data and task while still generalising well to unseen examples.</a:t>
            </a:r>
          </a:p>
          <a:p>
            <a:pPr algn="l">
              <a:lnSpc>
                <a:spcPts val="3483"/>
              </a:lnSpc>
            </a:pPr>
          </a:p>
          <a:p>
            <a:pPr algn="l">
              <a:lnSpc>
                <a:spcPts val="3483"/>
              </a:lnSpc>
            </a:pPr>
            <a:r>
              <a:rPr lang="en-US" sz="24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Common criteria for model selection include:</a:t>
            </a:r>
          </a:p>
          <a:p>
            <a:pPr algn="l" marL="537277" indent="-268638" lvl="1">
              <a:lnSpc>
                <a:spcPts val="3483"/>
              </a:lnSpc>
              <a:buFont typeface="Arial"/>
              <a:buChar char="•"/>
            </a:pPr>
            <a:r>
              <a:rPr lang="en-US" sz="24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Predictive performance on validation data (e.g., accuracy, F1-score, MSE, AUC).</a:t>
            </a:r>
          </a:p>
          <a:p>
            <a:pPr algn="l" marL="537277" indent="-268638" lvl="1">
              <a:lnSpc>
                <a:spcPts val="3483"/>
              </a:lnSpc>
              <a:buFont typeface="Arial"/>
              <a:buChar char="•"/>
            </a:pPr>
            <a:r>
              <a:rPr lang="en-US" sz="24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Generalisation</a:t>
            </a:r>
            <a:r>
              <a:rPr lang="en-US" sz="24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ability (low overfitting, good bias–variance trade-off).</a:t>
            </a:r>
          </a:p>
          <a:p>
            <a:pPr algn="l" marL="537277" indent="-268638" lvl="1">
              <a:lnSpc>
                <a:spcPts val="3483"/>
              </a:lnSpc>
              <a:buFont typeface="Arial"/>
              <a:buChar char="•"/>
            </a:pPr>
            <a:r>
              <a:rPr lang="en-US" sz="24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Model complexity (simpler models preferred when performance is similar).</a:t>
            </a:r>
          </a:p>
          <a:p>
            <a:pPr algn="l" marL="537277" indent="-268638" lvl="1">
              <a:lnSpc>
                <a:spcPts val="3483"/>
              </a:lnSpc>
              <a:buFont typeface="Arial"/>
              <a:buChar char="•"/>
            </a:pPr>
            <a:r>
              <a:rPr lang="en-US" sz="24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Interpretability (how easily humans can understand the model).</a:t>
            </a:r>
          </a:p>
          <a:p>
            <a:pPr algn="l" marL="537277" indent="-268638" lvl="1">
              <a:lnSpc>
                <a:spcPts val="3483"/>
              </a:lnSpc>
              <a:buFont typeface="Arial"/>
              <a:buChar char="•"/>
            </a:pPr>
            <a:r>
              <a:rPr lang="en-US" sz="24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Computational cost (training/inference time and memory).</a:t>
            </a:r>
          </a:p>
          <a:p>
            <a:pPr algn="l" marL="537277" indent="-268638" lvl="1">
              <a:lnSpc>
                <a:spcPts val="3483"/>
              </a:lnSpc>
              <a:buFont typeface="Arial"/>
              <a:buChar char="•"/>
            </a:pPr>
            <a:r>
              <a:rPr lang="en-US" sz="24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Data fit and assumptions (how well the model’s assumptions match the dataset).</a:t>
            </a:r>
          </a:p>
          <a:p>
            <a:pPr algn="l">
              <a:lnSpc>
                <a:spcPts val="348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7397573" y="-603427"/>
            <a:ext cx="9034195" cy="12746659"/>
          </a:xfrm>
          <a:custGeom>
            <a:avLst/>
            <a:gdLst/>
            <a:ahLst/>
            <a:cxnLst/>
            <a:rect r="r" b="b" t="t" l="l"/>
            <a:pathLst>
              <a:path h="12746659" w="9034195">
                <a:moveTo>
                  <a:pt x="0" y="12746659"/>
                </a:moveTo>
                <a:lnTo>
                  <a:pt x="9034195" y="12746659"/>
                </a:lnTo>
                <a:lnTo>
                  <a:pt x="9034195" y="0"/>
                </a:lnTo>
                <a:lnTo>
                  <a:pt x="0" y="0"/>
                </a:lnTo>
                <a:lnTo>
                  <a:pt x="0" y="1274665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7521" y="2753320"/>
            <a:ext cx="10127640" cy="4761600"/>
          </a:xfrm>
          <a:custGeom>
            <a:avLst/>
            <a:gdLst/>
            <a:ahLst/>
            <a:cxnLst/>
            <a:rect r="r" b="b" t="t" l="l"/>
            <a:pathLst>
              <a:path h="4761600" w="10127640">
                <a:moveTo>
                  <a:pt x="0" y="0"/>
                </a:moveTo>
                <a:lnTo>
                  <a:pt x="10127640" y="0"/>
                </a:lnTo>
                <a:lnTo>
                  <a:pt x="10127640" y="4761600"/>
                </a:lnTo>
                <a:lnTo>
                  <a:pt x="0" y="4761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193" t="-41617" r="0" b="-1154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53092" y="845072"/>
            <a:ext cx="19495210" cy="86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6"/>
              </a:lnSpc>
            </a:pPr>
            <a:r>
              <a:rPr lang="en-US" b="true" sz="60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MODEL TRAINING &amp; EVALUATION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71606" y="2163579"/>
            <a:ext cx="7065325" cy="715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537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Model Training</a:t>
            </a:r>
          </a:p>
          <a:p>
            <a:pPr algn="l" marL="547846" indent="-273923" lvl="1">
              <a:lnSpc>
                <a:spcPts val="3552"/>
              </a:lnSpc>
              <a:buFont typeface="Arial"/>
              <a:buChar char="•"/>
            </a:pPr>
            <a:r>
              <a:rPr lang="en-US" b="true" sz="2537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</a:t>
            </a:r>
            <a:r>
              <a:rPr lang="en-US" sz="253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ata Preparation &amp; Hyperparameter Tuning: Split data into train/test sets and adjust model parameters to optimize performance without overfitting.</a:t>
            </a:r>
          </a:p>
          <a:p>
            <a:pPr algn="l" marL="547846" indent="-273923" lvl="1">
              <a:lnSpc>
                <a:spcPts val="3552"/>
              </a:lnSpc>
              <a:buFont typeface="Arial"/>
              <a:buChar char="•"/>
            </a:pPr>
            <a:r>
              <a:rPr lang="en-US" sz="253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Iter</a:t>
            </a:r>
            <a:r>
              <a:rPr lang="en-US" sz="253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ative</a:t>
            </a:r>
            <a:r>
              <a:rPr lang="en-US" sz="253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Training: Train the model multiple times, refining features.</a:t>
            </a:r>
          </a:p>
          <a:p>
            <a:pPr algn="l">
              <a:lnSpc>
                <a:spcPts val="3552"/>
              </a:lnSpc>
            </a:pPr>
          </a:p>
          <a:p>
            <a:pPr algn="l">
              <a:lnSpc>
                <a:spcPts val="3552"/>
              </a:lnSpc>
            </a:pPr>
            <a:r>
              <a:rPr lang="en-US" sz="2537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Model Evaluation</a:t>
            </a:r>
          </a:p>
          <a:p>
            <a:pPr algn="l" marL="547846" indent="-273923" lvl="1">
              <a:lnSpc>
                <a:spcPts val="3552"/>
              </a:lnSpc>
              <a:buFont typeface="Arial"/>
              <a:buChar char="•"/>
            </a:pPr>
            <a:r>
              <a:rPr lang="en-US" b="true" sz="2537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</a:t>
            </a:r>
            <a:r>
              <a:rPr lang="en-US" sz="253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erformance Metrics: Measure model accuracy using appropriate metrics (Accuracy, Precision, Recall, F1-Score for classification).</a:t>
            </a:r>
          </a:p>
          <a:p>
            <a:pPr algn="l" marL="547846" indent="-273923" lvl="1">
              <a:lnSpc>
                <a:spcPts val="3552"/>
              </a:lnSpc>
              <a:buFont typeface="Arial"/>
              <a:buChar char="•"/>
            </a:pPr>
            <a:r>
              <a:rPr lang="en-US" sz="253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Business Alignment &amp; Error Analysis: Ensure model meets business objectives and analyze failure patterns.</a:t>
            </a:r>
          </a:p>
          <a:p>
            <a:pPr algn="l">
              <a:lnSpc>
                <a:spcPts val="355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5887357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32482" y="1066800"/>
            <a:ext cx="14023037" cy="862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3"/>
              </a:lnSpc>
            </a:pPr>
            <a:r>
              <a:rPr lang="en-US" b="true" sz="59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 PROJECT IMPLEMENTATION PROCESS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9633" y="2137653"/>
            <a:ext cx="16888734" cy="769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Stage 1: Choosing a Model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Select the right LLM based on your needs: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Examples: Llama 2/3 (open-source, customizable), GPT-4 (powerful, API-based), Mistral (lightweight, efficient), Claude (strong reasoning)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Criteria: Consider cost, latency, accuracy, size constraints, and whether you need local vs. cloud deployment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Integration: Access via Hugging Face, OpenAI API, AWS Bedrock, or local deployment</a:t>
            </a:r>
          </a:p>
          <a:p>
            <a:pPr algn="just">
              <a:lnSpc>
                <a:spcPts val="4060"/>
              </a:lnSpc>
            </a:pPr>
          </a:p>
          <a:p>
            <a:pPr algn="just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Stage 2: Retrieval-Augmented Generation (RAG) - Fetching Context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How it works: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User asks a question → System searches your knowledge base (documents, FAQs, internal data) for relevant context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Retrieved context is combined with the question and sent to the LLM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LLM generates a response grounded in your specific data, not just general knowledge</a:t>
            </a:r>
          </a:p>
          <a:p>
            <a:pPr algn="just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70822" y="3527367"/>
            <a:ext cx="9432433" cy="5312414"/>
          </a:xfrm>
          <a:custGeom>
            <a:avLst/>
            <a:gdLst/>
            <a:ahLst/>
            <a:cxnLst/>
            <a:rect r="r" b="b" t="t" l="l"/>
            <a:pathLst>
              <a:path h="5312414" w="9432433">
                <a:moveTo>
                  <a:pt x="0" y="0"/>
                </a:moveTo>
                <a:lnTo>
                  <a:pt x="9432433" y="0"/>
                </a:lnTo>
                <a:lnTo>
                  <a:pt x="9432433" y="5312414"/>
                </a:lnTo>
                <a:lnTo>
                  <a:pt x="0" y="5312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4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7914" y="3068408"/>
            <a:ext cx="7402185" cy="741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Stage 3: Fine-tuning (Optional - When RAG isn't Enough)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When to fine-tune: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Model needs to learn your domain language, style, or specific patterns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RAG alone doesn't capture nuanced behavior you want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Process: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Prepare training data: Input-output pairs from your domain (e.g., customer queries + ideal responses)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Use parameter-efficient methods like LoRA to avoid high computational costs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132482" y="1066800"/>
            <a:ext cx="14023037" cy="862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3"/>
              </a:lnSpc>
            </a:pPr>
            <a:r>
              <a:rPr lang="en-US" b="true" sz="59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 PROJECT IMPLEMENTATION PROCESS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2470337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5"/>
                </a:lnTo>
                <a:lnTo>
                  <a:pt x="0" y="13560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51632" y="4376816"/>
            <a:ext cx="8984736" cy="145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DAG56YagwHg</dc:identifier>
  <dcterms:modified xsi:type="dcterms:W3CDTF">2011-08-01T06:04:30Z</dcterms:modified>
  <cp:revision>1</cp:revision>
  <dc:title>Artificial Intelligence &amp; Machine Learning</dc:title>
</cp:coreProperties>
</file>